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to tell them the exam covers chapters four and five.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example.com/syllabu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Every Check On Its Own Slide</a:t>
            </a:r>
          </a:p>
        </p:txBody>
      </p:sp>
      <p:sp>
        <p:nvSpPr>
          <p:cNvPr id="3" name="Body 1"/>
          <p:cNvSpPr txBox="1"/>
          <p:nvPr/>
        </p:nvSpPr>
        <p:spPr>
          <a:xfrm>
            <a:off x="914400" y="1828800"/>
            <a:ext cx="7315200" cy="1828800"/>
          </a:xfrm>
          <a:prstGeom prst="rect">
            <a:avLst/>
          </a:prstGeom>
          <a:noFill/>
        </p:spPr>
        <p:txBody>
          <a:bodyPr wrap="none">
            <a:spAutoFit/>
          </a:bodyPr>
          <a:lstStyle/>
          <a:p>
            <a:r>
              <a:t>Each slide after this one is built to set off exactly one of the checks. The paragraph you are reading is only here so that there are enough words in the deck for the reading level to be worked out, because the measurement is skipped on presentations shorter than thirty words.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ody 1"/>
          <p:cNvSpPr txBox="1"/>
          <p:nvPr/>
        </p:nvSpPr>
        <p:spPr>
          <a:xfrm>
            <a:off x="914400" y="914400"/>
            <a:ext cx="7315200" cy="914400"/>
          </a:xfrm>
          <a:prstGeom prst="rect">
            <a:avLst/>
          </a:prstGeom>
          <a:noFill/>
        </p:spPr>
        <p:txBody>
          <a:bodyPr wrap="none">
            <a:spAutoFit/>
          </a:bodyPr>
          <a:lstStyle/>
          <a:p>
            <a:r>
              <a:t>There is no heading above this text.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Further Reading</a:t>
            </a:r>
          </a:p>
        </p:txBody>
      </p:sp>
      <p:sp>
        <p:nvSpPr>
          <p:cNvPr id="3" name="TextBox 2"/>
          <p:cNvSpPr txBox="1"/>
          <p:nvPr/>
        </p:nvSpPr>
        <p:spPr>
          <a:xfrm>
            <a:off x="914400" y="1828800"/>
            <a:ext cx="5486400" cy="914400"/>
          </a:xfrm>
          <a:prstGeom prst="rect">
            <a:avLst/>
          </a:prstGeom>
          <a:noFill/>
        </p:spPr>
        <p:txBody>
          <a:bodyPr wrap="none">
            <a:spAutoFit/>
          </a:bodyPr>
          <a:lstStyle/>
          <a:p>
            <a:r>
              <a:rPr>
                <a:hlinkClick r:id="rId2"/>
              </a:rPr>
              <a:t>click here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Marks By Term</a:t>
            </a:r>
          </a:p>
        </p:txBody>
      </p:sp>
      <p:graphicFrame>
        <p:nvGraphicFramePr>
          <p:cNvPr id="3" name="Table 2"/>
          <p:cNvGraphicFramePr>
            <a:graphicFrameLocks noGrp="1"/>
          </p:cNvGraphicFramePr>
          <p:nvPr/>
        </p:nvGraphicFramePr>
        <p:xfrm>
          <a:off x="914400" y="1828800"/>
          <a:ext cx="5486400" cy="1828800"/>
        </p:xfrm>
        <a:graphic>
          <a:graphicData uri="http://schemas.openxmlformats.org/drawingml/2006/table">
            <a:tbl>
              <a:tblPr bandRow="1">
                <a:tableStyleId>{5C22544A-7EE6-4342-B048-85BDC9FD1C3A}</a:tableStyleId>
              </a:tblPr>
              <a:tblGrid>
                <a:gridCol w="2743200"/>
                <a:gridCol w="2743200"/>
              </a:tblGrid>
              <a:tr h="609600">
                <a:tc>
                  <a:txBody>
                    <a:bodyPr/>
                    <a:lstStyle/>
                    <a:p>
                      <a:r>
                        <a:t>Autumn</a:t>
                      </a:r>
                    </a:p>
                  </a:txBody>
                  <a:tcPr/>
                </a:tc>
                <a:tc>
                  <a:txBody>
                    <a:bodyPr/>
                    <a:lstStyle/>
                    <a:p>
                      <a:r>
                        <a:t>72</a:t>
                      </a:r>
                    </a:p>
                  </a:txBody>
                  <a:tcPr/>
                </a:tc>
              </a:tr>
              <a:tr h="609600">
                <a:tc>
                  <a:txBody>
                    <a:bodyPr/>
                    <a:lstStyle/>
                    <a:p>
                      <a:r>
                        <a:t>Winter</a:t>
                      </a:r>
                    </a:p>
                  </a:txBody>
                  <a:tcPr/>
                </a:tc>
                <a:tc>
                  <a:txBody>
                    <a:bodyPr/>
                    <a:lstStyle/>
                    <a:p>
                      <a:r>
                        <a:t>78</a:t>
                      </a:r>
                    </a:p>
                  </a:txBody>
                  <a:tcPr/>
                </a:tc>
              </a:tr>
              <a:tr h="609600">
                <a:tc>
                  <a:txBody>
                    <a:bodyPr/>
                    <a:lstStyle/>
                    <a:p>
                      <a:r>
                        <a:t>Spring</a:t>
                      </a:r>
                    </a:p>
                  </a:txBody>
                  <a:tcPr/>
                </a:tc>
                <a:tc>
                  <a:txBody>
                    <a:bodyPr/>
                    <a:lstStyle/>
                    <a:p>
                      <a:r>
                        <a:t>81</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Timetable</a:t>
            </a:r>
          </a:p>
        </p:txBody>
      </p:sp>
      <p:graphicFrame>
        <p:nvGraphicFramePr>
          <p:cNvPr id="3" name="Table 2"/>
          <p:cNvGraphicFramePr>
            <a:graphicFrameLocks noGrp="1"/>
          </p:cNvGraphicFramePr>
          <p:nvPr/>
        </p:nvGraphicFramePr>
        <p:xfrm>
          <a:off x="914400" y="1828800"/>
          <a:ext cx="6400800" cy="1828800"/>
        </p:xfrm>
        <a:graphic>
          <a:graphicData uri="http://schemas.openxmlformats.org/drawingml/2006/table">
            <a:tbl>
              <a:tblPr firstRow="1" bandRow="1">
                <a:tableStyleId>{5C22544A-7EE6-4342-B048-85BDC9FD1C3A}</a:tableStyleId>
              </a:tblPr>
              <a:tblGrid>
                <a:gridCol w="2133600"/>
                <a:gridCol w="2133600"/>
                <a:gridCol w="2133600"/>
              </a:tblGrid>
              <a:tr h="609600">
                <a:tc>
                  <a:txBody>
                    <a:bodyPr/>
                    <a:lstStyle/>
                    <a:p>
                      <a:r>
                        <a:t>Day</a:t>
                      </a:r>
                    </a:p>
                  </a:txBody>
                  <a:tcPr/>
                </a:tc>
                <a:tc>
                  <a:txBody>
                    <a:bodyPr/>
                    <a:lstStyle/>
                    <a:p>
                      <a:r>
                        <a:t>Morning</a:t>
                      </a:r>
                    </a:p>
                  </a:txBody>
                  <a:tcPr/>
                </a:tc>
                <a:tc>
                  <a:txBody>
                    <a:bodyPr/>
                    <a:lstStyle/>
                    <a:p>
                      <a:r>
                        <a:t>Afternoon</a:t>
                      </a:r>
                    </a:p>
                  </a:txBody>
                  <a:tcPr/>
                </a:tc>
              </a:tr>
              <a:tr h="609600">
                <a:tc>
                  <a:txBody>
                    <a:bodyPr/>
                    <a:lstStyle/>
                    <a:p>
                      <a:r>
                        <a:t>Monday</a:t>
                      </a:r>
                    </a:p>
                  </a:txBody>
                  <a:tcPr/>
                </a:tc>
                <a:tc gridSpan="2">
                  <a:txBody>
                    <a:bodyPr/>
                    <a:lstStyle/>
                    <a:p>
                      <a:r>
                        <a:t>Lab session, runs all day</a:t>
                      </a:r>
                    </a:p>
                  </a:txBody>
                  <a:tcPr/>
                </a:tc>
                <a:tc hMerge="1">
                  <a:txBody>
                    <a:bodyPr/>
                    <a:lstStyle/>
                    <a:p/>
                  </a:txBody>
                  <a:tcPr/>
                </a:tc>
              </a:tr>
              <a:tr h="609600">
                <a:tc>
                  <a:txBody>
                    <a:bodyPr/>
                    <a:lstStyle/>
                    <a:p>
                      <a:r>
                        <a:t>Tuesday</a:t>
                      </a:r>
                    </a:p>
                  </a:txBody>
                  <a:tcPr/>
                </a:tc>
                <a:tc>
                  <a:txBody>
                    <a:bodyPr/>
                    <a:lstStyle/>
                    <a:p>
                      <a:r>
                        <a:t>Lecture</a:t>
                      </a:r>
                    </a:p>
                  </a:txBody>
                  <a:tcPr/>
                </a:tc>
                <a:tc>
                  <a:txBody>
                    <a:bodyPr/>
                    <a:lstStyle/>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Notes To Myself</a:t>
            </a:r>
          </a:p>
        </p:txBody>
      </p:sp>
      <p:sp>
        <p:nvSpPr>
          <p:cNvPr id="3" name="Parked Note"/>
          <p:cNvSpPr txBox="1"/>
          <p:nvPr/>
        </p:nvSpPr>
        <p:spPr>
          <a:xfrm>
            <a:off x="10058400" y="1828800"/>
            <a:ext cx="2743200" cy="914400"/>
          </a:xfrm>
          <a:prstGeom prst="rect">
            <a:avLst/>
          </a:prstGeom>
          <a:noFill/>
        </p:spPr>
        <p:txBody>
          <a:bodyPr wrap="none">
            <a:spAutoFit/>
          </a:bodyPr>
          <a:lstStyle/>
          <a:p>
            <a:r>
              <a:t>Old draft I meant to delete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a:t>
            </a:r>
          </a:p>
        </p:txBody>
      </p:sp>
      <p:sp>
        <p:nvSpPr>
          <p:cNvPr id="3" name="Second Point"/>
          <p:cNvSpPr txBox="1"/>
          <p:nvPr/>
        </p:nvSpPr>
        <p:spPr>
          <a:xfrm>
            <a:off x="914400" y="3657600"/>
            <a:ext cx="5486400" cy="914400"/>
          </a:xfrm>
          <a:prstGeom prst="rect">
            <a:avLst/>
          </a:prstGeom>
          <a:noFill/>
        </p:spPr>
        <p:txBody>
          <a:bodyPr wrap="none">
            <a:spAutoFit/>
          </a:bodyPr>
          <a:lstStyle/>
          <a:p>
            <a:r>
              <a:t>Then we measured the current.</a:t>
            </a:r>
          </a:p>
        </p:txBody>
      </p:sp>
      <p:sp>
        <p:nvSpPr>
          <p:cNvPr id="4" name="First Point"/>
          <p:cNvSpPr txBox="1"/>
          <p:nvPr/>
        </p:nvSpPr>
        <p:spPr>
          <a:xfrm>
            <a:off x="914400" y="1828800"/>
            <a:ext cx="5486400" cy="914400"/>
          </a:xfrm>
          <a:prstGeom prst="rect">
            <a:avLst/>
          </a:prstGeom>
          <a:noFill/>
        </p:spPr>
        <p:txBody>
          <a:bodyPr wrap="none">
            <a:spAutoFit/>
          </a:bodyPr>
          <a:lstStyle/>
          <a:p>
            <a:r>
              <a:t>First we set up the circuit.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